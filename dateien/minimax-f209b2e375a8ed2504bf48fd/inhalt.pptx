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hyperlink" Target="https://dachwerkhamburg.blogspot.com/2026/10/sturmschaden-am-dach-so-dokumentieren.html" TargetMode="External"/><Relationship Id="rId3" Type="http://schemas.openxmlformats.org/officeDocument/2006/relationships/hyperlink" Target="https://holzundhaus.github.io/dachwerkhamburg/dateien/minimax-f209b2e375a8ed2504bf48fd/inhalt.xlsx"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Sturmschaden am Dach: So dokumentieren Eigentümer den Schaden richtig · Erklärende Präsentation</a:t>
            </a:r>
          </a:p>
        </p:txBody>
      </p:sp>
      <p:sp>
        <p:nvSpPr>
          <p:cNvPr id="3" name="Content Placeholder 2"/>
          <p:cNvSpPr>
            <a:spLocks noGrp="1"/>
          </p:cNvSpPr>
          <p:nvPr>
            <p:ph idx="1"/>
          </p:nvPr>
        </p:nvSpPr>
        <p:spPr/>
        <p:txBody>
          <a:bodyPr/>
          <a:lstStyle/>
          <a:p>
            <a:r>
              <a:t>Überblick: Nach einem Sturm mit losen Dachziegeln, verrutschten Blechen oder sichtbarem Wassereintritt stellt sich für Eigentümer die entscheidende Frage: Was sollte jetzt fotografiert, gemessen und gemeldet werden? Eine strukturierte Dokumentation schafft einen nachvollziehbaren Überblick über den Schaden und erleichtert die Abstimmung mit Versicherern und Fachbetrieben. Wichtig ist dabei, zunächst die eigene Sicherheit in den Vordergrund zu stellen. Die folgenden Hinweise zeigen, welche Aufnahmen und Angaben sinnvoll sind, wie der Schaden gemeldet wird und wann eine fachliche Prüfung auf dem Dach unverzichtbar wird.</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vor der Schadensdokumentation</a:t>
            </a:r>
          </a:p>
        </p:txBody>
      </p:sp>
      <p:sp>
        <p:nvSpPr>
          <p:cNvPr id="3" name="Content Placeholder 2"/>
          <p:cNvSpPr>
            <a:spLocks noGrp="1"/>
          </p:cNvSpPr>
          <p:nvPr>
            <p:ph idx="1"/>
          </p:nvPr>
        </p:nvSpPr>
        <p:spPr/>
        <p:txBody>
          <a:bodyPr/>
          <a:lstStyle/>
          <a:p>
            <a:pPr>
              <a:defRPr sz="1800"/>
            </a:pPr>
            <a:r>
              <a:t>Lose Bauteile, herabhängende Leitern sowie nasse und rutschige Dachbereiche können bei einer eigenen Prüfung zusätzliche Gefahren verursachen. Eigentümer sollten daher auf eine eigene Dachbesteigung verzichten, wenn die Lage unsicher ist. Eine erste Aufnahme ist meist vom Boden, aus einem Fenster oder vom Nachbargrundstück möglich. Hilfreich sind ein Überblick über das gesamte Dach sowie Detailaufnahmen der betroffenen Bereiche. Auch angrenzende Bauteile wie Dachrinne, Fallrohr, Attika, Schornstein und Gauben sollten berücksichtigt werden. Bei Wassereintritt können zusätzlich Fotos von Spuren an Decken, Wänden, Bodenbelägen oder anderen Innen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Sicherheit vor der Schadensdokumentation</a:t>
            </a:r>
          </a:p>
        </p:txBody>
      </p:sp>
      <p:sp>
        <p:nvSpPr>
          <p:cNvPr id="3" name="Content Placeholder 2"/>
          <p:cNvSpPr>
            <a:spLocks noGrp="1"/>
          </p:cNvSpPr>
          <p:nvPr>
            <p:ph idx="1"/>
          </p:nvPr>
        </p:nvSpPr>
        <p:spPr/>
        <p:txBody>
          <a:bodyPr/>
          <a:lstStyle/>
          <a:p>
            <a:pPr>
              <a:defRPr sz="1800"/>
            </a:pPr>
            <a:r>
              <a:t>räumen die Situation nachvollziehbar machen. Weitere Orientierung bietet der Überblick zu Sturmschäden am Dach.</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Versicherer benötigen</a:t>
            </a:r>
          </a:p>
        </p:txBody>
      </p:sp>
      <p:sp>
        <p:nvSpPr>
          <p:cNvPr id="3" name="Content Placeholder 2"/>
          <p:cNvSpPr>
            <a:spLocks noGrp="1"/>
          </p:cNvSpPr>
          <p:nvPr>
            <p:ph idx="1"/>
          </p:nvPr>
        </p:nvSpPr>
        <p:spPr/>
        <p:txBody>
          <a:bodyPr/>
          <a:lstStyle/>
          <a:p>
            <a:pPr>
              <a:defRPr sz="1800"/>
            </a:pPr>
            <a:r>
              <a:t>Für eine präzise Schadenanzeige sollten Eigentümer die Adresse des Gebäudes und die genaue Lage des Schadens notieren. Angaben zum Sturmdatum, soweit bekannt, sowie zum Zeitpunkt der ersten Beobachtung gehören ebenfalls in die Unterlagen. Hilfreich sind außerdem die Art der Eindeckung, die ungefähre Größe der betroffenen Dachfläche und die Anzahl erkennbar fehlender, verschobener oder beschädigter Elemente. Bei Wassereintritt sollte beschrieben werden, welche Räume und Bauteile betroffen sind. Auch bereits vorgenommene Sicherungsmaßnahmen wie eine Abdeckplane, Eimer oder Notabdichtung können relevant sein. Die genaue Leistung richtet sich nac</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Welche Angaben Versicherer benötigen</a:t>
            </a:r>
          </a:p>
        </p:txBody>
      </p:sp>
      <p:sp>
        <p:nvSpPr>
          <p:cNvPr id="3" name="Content Placeholder 2"/>
          <p:cNvSpPr>
            <a:spLocks noGrp="1"/>
          </p:cNvSpPr>
          <p:nvPr>
            <p:ph idx="1"/>
          </p:nvPr>
        </p:nvSpPr>
        <p:spPr/>
        <p:txBody>
          <a:bodyPr/>
          <a:lstStyle/>
          <a:p>
            <a:pPr>
              <a:defRPr sz="1800"/>
            </a:pPr>
            <a:r>
              <a:t>h dem jeweiligen Vertrag. Die Dokumentation ersetzt keine Prüfung des Versicherungsvertrags, bildet aber eine wichtige Grundlage für die weitere Bewertung.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die den Schaden deutlich zeigen</a:t>
            </a:r>
          </a:p>
        </p:txBody>
      </p:sp>
      <p:sp>
        <p:nvSpPr>
          <p:cNvPr id="3" name="Content Placeholder 2"/>
          <p:cNvSpPr>
            <a:spLocks noGrp="1"/>
          </p:cNvSpPr>
          <p:nvPr>
            <p:ph idx="1"/>
          </p:nvPr>
        </p:nvSpPr>
        <p:spPr/>
        <p:txBody>
          <a:bodyPr/>
          <a:lstStyle/>
          <a:p>
            <a:pPr>
              <a:defRPr sz="1800"/>
            </a:pPr>
            <a:r>
              <a:t>Bei der Aufnahme zählt die Erkennbarkeit mehr als eine besonders wirkungsvolle Bildkomposition. Tageslicht oder Blitz können helfen, Schatten auf der Dachfläche zu vermeiden. Ein Gegenstand bekannter Größe, etwa ein Zollstock oder Mauerstein, dient als Maßstab. Sinnvoll ist außerdem, mehrere Blickwinkel zu kombinieren: frontal, schräg von der Seite und bei Bedarf von einem höheren Standpunkt außerhalb des Dachbereichs. Datum und Uhrzeit sollten möglichst direkt im Bild oder in einer separaten Notiz festgehalten werden. Beschreibungen wie „verschobene Ziegel links neben dem Schornstein“ erleichtern später das Zuordnen der Aufnahmen. Die Bilder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Fotos, die den Schaden deutlich zeigen</a:t>
            </a:r>
          </a:p>
        </p:txBody>
      </p:sp>
      <p:sp>
        <p:nvSpPr>
          <p:cNvPr id="3" name="Content Placeholder 2"/>
          <p:cNvSpPr>
            <a:spLocks noGrp="1"/>
          </p:cNvSpPr>
          <p:nvPr>
            <p:ph idx="1"/>
          </p:nvPr>
        </p:nvSpPr>
        <p:spPr/>
        <p:txBody>
          <a:bodyPr/>
          <a:lstStyle/>
          <a:p>
            <a:pPr>
              <a:defRPr sz="1800"/>
            </a:pPr>
            <a:r>
              <a:t> sollten in einer eigenen Ablage, etwa einem Ordner oder einer Cloud-Mappe, zusammen mit den übrigen Schadensunterlagen gespeichert werden.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 melden und vorläufig sichern</a:t>
            </a:r>
          </a:p>
        </p:txBody>
      </p:sp>
      <p:sp>
        <p:nvSpPr>
          <p:cNvPr id="3" name="Content Placeholder 2"/>
          <p:cNvSpPr>
            <a:spLocks noGrp="1"/>
          </p:cNvSpPr>
          <p:nvPr>
            <p:ph idx="1"/>
          </p:nvPr>
        </p:nvSpPr>
        <p:spPr/>
        <p:txBody>
          <a:bodyPr/>
          <a:lstStyle/>
          <a:p>
            <a:pPr>
              <a:defRPr sz="1800"/>
            </a:pPr>
            <a:r>
              <a:t>Nach der Dokumentation ist der Versicherer zu informieren. Je nach Gesellschaft kann die Meldung online, telefonisch oder über eine App erfolgen. Im Erstkontakt lässt sich erfragen, welche Nachweise konkret benötigt werden. Dadurch lassen sich doppelte Anforderungen vermeiden. Eine vorläufige Sicherung kann weitere Wassereintritte begrenzen, sollte aber nur ohne Leiter und ohne erkennbares Risiko möglich sein. Größere Sicherungsmaßnahmen gehören in fachliche Hände. Besteht eine akute Gefahr für Personen, etwa durch herabstürzende Teile auf Gehwegen, ist der Notruf die richtige Anlaufstelle. Neben Fotos und der Schadenmeldung sollten auch Vers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Schaden melden und vorläufig sichern</a:t>
            </a:r>
          </a:p>
        </p:txBody>
      </p:sp>
      <p:sp>
        <p:nvSpPr>
          <p:cNvPr id="3" name="Content Placeholder 2"/>
          <p:cNvSpPr>
            <a:spLocks noGrp="1"/>
          </p:cNvSpPr>
          <p:nvPr>
            <p:ph idx="1"/>
          </p:nvPr>
        </p:nvSpPr>
        <p:spPr/>
        <p:txBody>
          <a:bodyPr/>
          <a:lstStyle/>
          <a:p>
            <a:pPr>
              <a:defRPr sz="1800"/>
            </a:pPr>
            <a:r>
              <a:t>icherungsnummer, Ansprechpartner, Rechnungen sowie Notizen zu Telefonaten mit Versicherer, Fachbetrieb und Mietern gesichert werden.</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Sicherung, Notreparatur und dauerhafte Instandsetzung</a:t>
            </a:r>
          </a:p>
        </p:txBody>
      </p:sp>
      <p:sp>
        <p:nvSpPr>
          <p:cNvPr id="3" name="Content Placeholder 2"/>
          <p:cNvSpPr>
            <a:spLocks noGrp="1"/>
          </p:cNvSpPr>
          <p:nvPr>
            <p:ph idx="1"/>
          </p:nvPr>
        </p:nvSpPr>
        <p:spPr/>
        <p:txBody>
          <a:bodyPr/>
          <a:lstStyle/>
          <a:p>
            <a:pPr>
              <a:defRPr sz="1800"/>
            </a:pPr>
            <a:r>
              <a:t>Diese drei Schritte lassen sich klar voneinander abgrenzen. Eine Sicherung stoppt vorläufig weiteren Wassereintritt und ist zeitlich begrenzt. Eine Notreparatur beseitigt die akute Schadenstelle fachlich, ersetzt aber nicht die vollständige Instandsetzung. Die dauerhafte Reparatur richtet sich nach dem Befund von Dachhaut, Unterkonstruktion und Anschlüssen. Bei Sturmschäden können auch angrenzende Bereiche betroffen sein. Die Planung der endgültigen Maßnahme sollte deshalb erst nach einer fachlichen Prüfung vor Ort erfolgen. Besonders wichtig ist die Unterstützung durch einen Dachdeckerbetrieb oder Dachnotdienst, wenn der Wassereintritt anhäl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Sicherung, Notreparatur und dauerhafte Instandsetzung</a:t>
            </a:r>
          </a:p>
        </p:txBody>
      </p:sp>
      <p:sp>
        <p:nvSpPr>
          <p:cNvPr id="3" name="Content Placeholder 2"/>
          <p:cNvSpPr>
            <a:spLocks noGrp="1"/>
          </p:cNvSpPr>
          <p:nvPr>
            <p:ph idx="1"/>
          </p:nvPr>
        </p:nvSpPr>
        <p:spPr/>
        <p:txBody>
          <a:bodyPr/>
          <a:lstStyle/>
          <a:p>
            <a:pPr>
              <a:defRPr sz="1800"/>
            </a:pPr>
            <a:r>
              <a:t>t, Dachziegel erkennbar verschoben sind oder Anschlüsse an Schornstein, Gaube oder Dachflächenfenster betroffen wirken. Ergänzende Informationen zu Dachreparatur, Dachwartung und Dachnotdienst helfen bei der Auswahl des nächsten Schritts.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Weitere Dokumente zum Thema</a:t>
            </a:r>
          </a:p>
        </p:txBody>
      </p:sp>
      <p:sp>
        <p:nvSpPr>
          <p:cNvPr id="3" name="Content Placeholder 2"/>
          <p:cNvSpPr>
            <a:spLocks noGrp="1"/>
          </p:cNvSpPr>
          <p:nvPr>
            <p:ph idx="1"/>
          </p:nvPr>
        </p:nvSpPr>
        <p:spPr/>
        <p:txBody>
          <a:bodyPr/>
          <a:lstStyle/>
          <a:p>
            <a:r>
              <a:rPr sz="1800">
                <a:hlinkClick r:id="rId2"/>
              </a:rPr>
              <a:t>Sturmschaden am Dach: So dokumentieren Eigentümer den Schaden richtig</a:t>
            </a:r>
          </a:p>
          <a:p>
            <a:r>
              <a:rPr sz="1800">
                <a:hlinkClick r:id="rId3"/>
              </a:rPr>
              <a:t>Zugehöriges Dokument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